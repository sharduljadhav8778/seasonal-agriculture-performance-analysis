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96" y="11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4535" y="3807899"/>
            <a:ext cx="8278035" cy="89974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Shardul Ananda Jadhav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Nutan Maharashtra Institute of Engineering and Technology (NMIET)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641600"/>
            <a:ext cx="7923769" cy="1144956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</a:t>
            </a:r>
            <a:r>
              <a:rPr lang="en-US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54534" y="4707643"/>
            <a:ext cx="5340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 STU6a61d929b4a971784797481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501FD21-66A3-4501-A21F-35D3DFC6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" y="1790260"/>
            <a:ext cx="7214976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performance varies across seasons due to differences in environmental conditions, farming practices, resource availability and market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raw agricultural data does not clearly show: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agricultural performance changes across seasons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seasonal patterns and trends are 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resource usage differs between seasons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environmental conditions relate to agricultural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economic performance varies across seasons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the agricultural dataset to identify meaningful seasonal patterns, relationships, variations and data-driven insights that can support better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959" y="805213"/>
            <a:ext cx="6276109" cy="3572477"/>
          </a:xfrm>
        </p:spPr>
        <p:txBody>
          <a:bodyPr>
            <a:normAutofit/>
          </a:bodyPr>
          <a:lstStyle/>
          <a:p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A353BA-1E4B-8F3C-2856-E8D9F026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01" y="212727"/>
            <a:ext cx="6966621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analyzes the performance of agricultural activities across different seasons using farm-level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covers: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and crop-wise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conditions such as rainfall, temperature and soil moisture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Fertilizer, pesticide, irrigation and water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yield and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Revenue, cost and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and pest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 between environmental, resource and economic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exploratory data analysis, statistical analysis and data visualization to identify meaningful seasonal patterns and support evidence-based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9BB268-E73C-2E03-995B-DDEABA7F1BBC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19125" y="652215"/>
            <a:ext cx="6865408" cy="552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ARE THE END USERS?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seasonal crop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resource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crop and irrigation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Planners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regional and seasonal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important agricultural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Researchers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environmental and farming relationships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unusual seasonal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Policy Stakeholders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evidence-based agricultural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areas requiring further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485" y="15144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42294D-E8C3-BB0D-6BDA-0D00D9334BB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422525" y="949239"/>
            <a:ext cx="531754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Agriculture Performance Dataset (CSV)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230671" y="160841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DATASET OVERVIEW :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9D80D-9765-5FA0-1FE0-36FC04D3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9" y="2043871"/>
            <a:ext cx="4707347" cy="21864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609B90-5C7D-CBF3-EC93-8F833B98AAD7}"/>
              </a:ext>
            </a:extLst>
          </p:cNvPr>
          <p:cNvSpPr txBox="1"/>
          <p:nvPr/>
        </p:nvSpPr>
        <p:spPr>
          <a:xfrm>
            <a:off x="5414399" y="1111195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Distribution of Records by Season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9ADDE-4A7D-4047-FEE1-E71D59265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271" y="2105625"/>
            <a:ext cx="6896960" cy="4105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D5EC6E-A0C4-0A02-8891-3D1AEE966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4" y="4745208"/>
            <a:ext cx="4004287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SEASONAL PERFORMANCE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648B1B-D262-08DF-1500-7BEC8745D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3" y="2227642"/>
            <a:ext cx="5284834" cy="35647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0C4AC4-3A39-BFE0-029D-E141272C95DC}"/>
              </a:ext>
            </a:extLst>
          </p:cNvPr>
          <p:cNvSpPr txBox="1"/>
          <p:nvPr/>
        </p:nvSpPr>
        <p:spPr>
          <a:xfrm>
            <a:off x="664486" y="1900943"/>
            <a:ext cx="5298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Yield Across Seasons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AB36E-8AEF-648E-C1B6-92C2FC025238}"/>
              </a:ext>
            </a:extLst>
          </p:cNvPr>
          <p:cNvSpPr txBox="1"/>
          <p:nvPr/>
        </p:nvSpPr>
        <p:spPr>
          <a:xfrm>
            <a:off x="5885617" y="1909213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Profit Across Seasons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D5CF64-AA5C-DC99-9E0C-DA91AC44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617" y="2270275"/>
            <a:ext cx="5414561" cy="35647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A3DA36-0DDF-9EB0-CEDD-58A4277E312E}"/>
              </a:ext>
            </a:extLst>
          </p:cNvPr>
          <p:cNvSpPr txBox="1"/>
          <p:nvPr/>
        </p:nvSpPr>
        <p:spPr>
          <a:xfrm>
            <a:off x="807164" y="5792428"/>
            <a:ext cx="70499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Finding:</a:t>
            </a:r>
            <a:r>
              <a:rPr lang="en-US" dirty="0"/>
              <a:t> Agricultural yield and profitability vary across seasons, indicating meaningful seasonal differences in agricultural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125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23117" y="1002956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64543" y="33753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CROP AND IRRIGATION ANALYSIS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E27CE-9A5B-ED0D-C773-B91D0C6BE668}"/>
              </a:ext>
            </a:extLst>
          </p:cNvPr>
          <p:cNvSpPr txBox="1"/>
          <p:nvPr/>
        </p:nvSpPr>
        <p:spPr>
          <a:xfrm>
            <a:off x="682900" y="966663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Yield by Crop and Season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EB328F-D18E-2D77-A4FA-CDD92C1A7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00" y="1331180"/>
            <a:ext cx="6990721" cy="2603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4A7B34-BA16-AC59-30F2-16BBECCCB871}"/>
              </a:ext>
            </a:extLst>
          </p:cNvPr>
          <p:cNvSpPr txBox="1"/>
          <p:nvPr/>
        </p:nvSpPr>
        <p:spPr>
          <a:xfrm>
            <a:off x="849682" y="3939084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Yield Across Irrigation Methods 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F079FA-7F87-50D8-BF9B-0FBAE1096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82" y="4308416"/>
            <a:ext cx="6544540" cy="25495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B545E2-6C8D-6B6B-B53F-61B0D11FEC57}"/>
              </a:ext>
            </a:extLst>
          </p:cNvPr>
          <p:cNvSpPr txBox="1"/>
          <p:nvPr/>
        </p:nvSpPr>
        <p:spPr>
          <a:xfrm>
            <a:off x="8080539" y="1476457"/>
            <a:ext cx="22043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Crop performance differs across seasons, while irrigation methods also show differences in yield and water usage.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-4928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14117" y="304192"/>
            <a:ext cx="4275138" cy="47752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ENVIRONMENTAL AND RESOURCE ANALYSIS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ADEC2-8275-99E0-96B0-171B24F7F807}"/>
              </a:ext>
            </a:extLst>
          </p:cNvPr>
          <p:cNvSpPr txBox="1"/>
          <p:nvPr/>
        </p:nvSpPr>
        <p:spPr>
          <a:xfrm>
            <a:off x="613721" y="830391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Rainfall vs Yield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CD44CD-C84F-5145-A5CE-683CFA0E6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6" y="1135189"/>
            <a:ext cx="4696068" cy="31030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022D53-A60E-AF9B-0C24-D760346C2546}"/>
              </a:ext>
            </a:extLst>
          </p:cNvPr>
          <p:cNvSpPr txBox="1"/>
          <p:nvPr/>
        </p:nvSpPr>
        <p:spPr>
          <a:xfrm>
            <a:off x="5658555" y="781712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Soil Moisture vs Yield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209034-6E99-E959-B501-014F50A98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438" y="1275371"/>
            <a:ext cx="4683045" cy="30826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394FE5-DADE-64FD-3A47-B26CEC8D3097}"/>
              </a:ext>
            </a:extLst>
          </p:cNvPr>
          <p:cNvSpPr txBox="1"/>
          <p:nvPr/>
        </p:nvSpPr>
        <p:spPr>
          <a:xfrm>
            <a:off x="745176" y="4238266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Correlation Heatmap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8692DA-F51A-ABF5-4A45-9AAD56571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76" y="4607598"/>
            <a:ext cx="7708757" cy="21462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7BC1BB0-78CE-8F95-7DF6-675C0C0E2AFE}"/>
              </a:ext>
            </a:extLst>
          </p:cNvPr>
          <p:cNvSpPr txBox="1"/>
          <p:nvPr/>
        </p:nvSpPr>
        <p:spPr>
          <a:xfrm>
            <a:off x="8523152" y="4566966"/>
            <a:ext cx="35193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Environmental conditions such as rainfall and soil moisture show measurable relationships with agricultural performance, although these relationships should not be interpreted as proof of causation.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8" y="7504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906039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14117" y="428519"/>
            <a:ext cx="4275138" cy="4775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ECONOMIC AND STATISTICAL ANALYSIS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25A1E-966A-64F4-D7FB-3157CF86FC91}"/>
              </a:ext>
            </a:extLst>
          </p:cNvPr>
          <p:cNvSpPr txBox="1"/>
          <p:nvPr/>
        </p:nvSpPr>
        <p:spPr>
          <a:xfrm>
            <a:off x="530259" y="1014227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Economic Performance Across Seasons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D9BFC7-B227-3233-7C38-717C2272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9" y="1333668"/>
            <a:ext cx="5327739" cy="2873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49131F-682F-28C4-1416-D2983F3AE4B6}"/>
              </a:ext>
            </a:extLst>
          </p:cNvPr>
          <p:cNvSpPr txBox="1"/>
          <p:nvPr/>
        </p:nvSpPr>
        <p:spPr>
          <a:xfrm>
            <a:off x="6334004" y="964336"/>
            <a:ext cx="61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Yield vs Profit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DA5BF9-A066-C48E-9901-526DC879A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5" y="1283377"/>
            <a:ext cx="4795306" cy="29233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B1C21C-8A30-5A53-22B6-33B60B5B2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712" y="4349936"/>
            <a:ext cx="4532632" cy="25080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D2CDB17-7E17-F7BC-9249-5D5A1F5DA582}"/>
              </a:ext>
            </a:extLst>
          </p:cNvPr>
          <p:cNvSpPr txBox="1"/>
          <p:nvPr/>
        </p:nvSpPr>
        <p:spPr>
          <a:xfrm>
            <a:off x="305158" y="4349936"/>
            <a:ext cx="3359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One-Way ANOVA – Seasonal Yield Comparison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0E7E00-5735-D46B-79C9-9F0ECCC1561C}"/>
              </a:ext>
            </a:extLst>
          </p:cNvPr>
          <p:cNvSpPr txBox="1"/>
          <p:nvPr/>
        </p:nvSpPr>
        <p:spPr>
          <a:xfrm>
            <a:off x="320982" y="5410091"/>
            <a:ext cx="621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F-statistic = actual value</a:t>
            </a:r>
            <a:br>
              <a:rPr lang="en-US" dirty="0"/>
            </a:br>
            <a:r>
              <a:rPr lang="en-US" dirty="0"/>
              <a:t>p-value = actual value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E7F97-A83B-53A0-1C69-761B8D157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201586"/>
            <a:ext cx="730377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multi-year agricultural data to study long-term seasonal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machine-learning models for crop yield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crop recommendation based on season and environmental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irrigation and water-use optimization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real-time weather and market-price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farmers and agricultural planners.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deeper regional analysis using more detailed geographical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https://github.com/AswiniKumar55/-Seasonal-Agriculture-Performance-Analysis-.git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41A0F-1C85-5177-F4C4-2145C32BC336}"/>
              </a:ext>
            </a:extLst>
          </p:cNvPr>
          <p:cNvSpPr txBox="1"/>
          <p:nvPr/>
        </p:nvSpPr>
        <p:spPr>
          <a:xfrm>
            <a:off x="729256" y="2420034"/>
            <a:ext cx="6101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https://github.com/ShardulJadhav8778/seasonal-agriculture-performance-analysis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F100C6-997D-C1CC-6088-96FFF5391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28" y="1218413"/>
            <a:ext cx="8002117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73065" y="2159570"/>
            <a:ext cx="3516098" cy="1803002"/>
          </a:xfrm>
        </p:spPr>
        <p:txBody>
          <a:bodyPr>
            <a:normAutofit/>
          </a:bodyPr>
          <a:lstStyle/>
          <a:p>
            <a:r>
              <a:rPr lang="en-US" dirty="0"/>
              <a:t>Seasonal Agriculture Performance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1436</TotalTime>
  <Words>548</Words>
  <Application>Microsoft Office PowerPoint</Application>
  <PresentationFormat>Widescreen</PresentationFormat>
  <Paragraphs>124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 </vt:lpstr>
      <vt:lpstr>PowerPoint Presentation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abc</cp:lastModifiedBy>
  <cp:revision>99</cp:revision>
  <dcterms:created xsi:type="dcterms:W3CDTF">2021-07-11T13:13:15Z</dcterms:created>
  <dcterms:modified xsi:type="dcterms:W3CDTF">2026-09-09T17:32:22Z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